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66" r:id="rId4"/>
    <p:sldId id="265" r:id="rId5"/>
    <p:sldId id="263" r:id="rId6"/>
    <p:sldId id="273" r:id="rId7"/>
    <p:sldId id="271" r:id="rId8"/>
    <p:sldId id="272" r:id="rId9"/>
    <p:sldId id="259" r:id="rId10"/>
    <p:sldId id="260" r:id="rId11"/>
    <p:sldId id="262" r:id="rId12"/>
    <p:sldId id="258" r:id="rId13"/>
    <p:sldId id="264" r:id="rId14"/>
    <p:sldId id="267" r:id="rId15"/>
    <p:sldId id="269" r:id="rId16"/>
    <p:sldId id="257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8C919-DEAB-49C4-ACB4-EBAF75F927B6}" type="datetimeFigureOut">
              <a:rPr lang="fr-FR" smtClean="0"/>
              <a:t>2025-06-18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00142-7D44-4698-90C9-22FBE6A519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6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83DC59-9614-A47C-0364-5F18F961E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5E8205-5F48-93D0-E7A9-B59E353CF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B51ECF-38FD-2948-3005-C06D3AA1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1528-FDB7-4446-A290-200D8EF46E28}" type="datetime1">
              <a:rPr lang="fr-FR" smtClean="0"/>
              <a:t>2025-06-18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BC6DCB-7667-AA79-1D48-C281BBFB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BF76E2-82D3-BD8D-A7E6-B05F58FD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840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49B61-4B50-703E-75FA-831BD4E0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0514"/>
            <a:ext cx="10515600" cy="923697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1AFA9B-972B-1FD5-AC27-654C00611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4211"/>
            <a:ext cx="10515600" cy="42227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4D6F74-76E6-343C-583E-F7B42A88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34FEF-DBA7-40F2-A22D-48C6FCD06373}" type="datetime1">
              <a:rPr lang="fr-FR" smtClean="0"/>
              <a:t>2025-06-18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5D4D9D-1741-4AA6-49B1-425E1BD21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C8F8DB-58BE-BFB4-F3CC-FDA414EE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25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409B5-40DB-FD7C-1DAA-28964A74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F3D335-39FB-61A3-3C3F-3B7E86FE5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708166-9B91-5B38-09B5-EFB07A72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6EFB-C786-4528-8385-CC5F9C02E142}" type="datetime1">
              <a:rPr lang="fr-FR" smtClean="0"/>
              <a:t>2025-06-18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0BF878-5920-2626-7692-1B5C4E76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C69D91-F768-BF94-FD99-2F9688CD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213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8D68B-1354-D874-B0B0-53622FE1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56E278-714C-520B-4C8A-0E0AADF12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9FBB46-1C43-F6E7-D1B8-CAA7D187B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760AEC-52FE-D59C-426F-9E046228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3F46-4CB2-4744-8092-F4C6E786FC11}" type="datetime1">
              <a:rPr lang="fr-FR" smtClean="0"/>
              <a:t>2025-06-18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3A280C-B1C9-F576-B4A2-FBE5D471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A73064-25B1-FBFA-5A2F-E162D374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04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1E343-3A18-DAED-38DC-697E3182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B62695-996D-9F43-72B3-090B96A5E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D67957-B526-954D-47E3-E22104E0C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4AD3B2C-0FB4-2E92-616D-E5FC46C2B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26FD87-DE1E-8229-909A-1FB748B08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9D85AE9-C0F1-93D8-4F25-E5900488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E1BC-0D52-4E79-B161-56F6871243EA}" type="datetime1">
              <a:rPr lang="fr-FR" smtClean="0"/>
              <a:t>2025-06-18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4D61EA7-DB1D-120D-2F5C-4FBDB85B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F617E2-3B68-7B90-CC75-AEB7B7B4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054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F4F73-10F1-6600-243A-168594F3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BE0AF4-DCE8-4815-B8FB-DFC93722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CFC1-D1C5-473A-BBF7-070E86BA9528}" type="datetime1">
              <a:rPr lang="fr-FR" smtClean="0"/>
              <a:t>2025-06-18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73A85F-9D93-4742-D876-1F7D1EA8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75C2E1-BE1F-A8D8-E178-9095BF86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17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3B5DE9-B8CE-3F61-6440-154D778A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9B7E6-56F8-43B7-BB68-39FEB885EAE8}" type="datetime1">
              <a:rPr lang="fr-FR" smtClean="0"/>
              <a:t>2025-06-18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9E74ADF-2B77-54E0-E10A-8ADC6373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9D9BDE-4557-9DC8-F5C1-C3E7FB85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43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E1D696-A204-6356-2641-9F4ED73D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D3BD72-3B2C-9F56-DC26-D0906A111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BD7ED3-4E18-84B0-DBDC-4AA3B8757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91CB7B-BAFA-7F56-4DA6-B6CACC14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2237-979F-448D-BE1A-4B8C271BD659}" type="datetime1">
              <a:rPr lang="fr-FR" smtClean="0"/>
              <a:t>2025-06-18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C37B86-BC4F-3AC5-C368-4B5A5641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9CEFEB-721E-B706-4F66-8A0C82F0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713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043030-7062-185E-F2E6-FC1D5AE2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C7B1880-F1A8-D404-3056-49C2541A3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B06BC8-24A6-6290-A1E6-232C74CBF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6ED8A3-3CA5-4D04-AC12-1C3B016E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0677-85D1-4803-93AC-72D3110AD1DE}" type="datetime1">
              <a:rPr lang="fr-FR" smtClean="0"/>
              <a:t>2025-06-18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368182-65DA-5070-57E7-1AFDCFDDA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349BD4-3EDF-6B80-D5CC-EC1DC9EE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086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222A30-2172-8D90-51C0-27E5745B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695FAC1-9604-A0FD-3D4D-D3348DD8E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CBFC72-565C-6644-5E8E-82FD63F5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90DE-E96F-4D25-8728-018472E05F0D}" type="datetime1">
              <a:rPr lang="fr-FR" smtClean="0"/>
              <a:t>2025-06-18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C1AEDF-2474-F5B2-869F-13F9F77BC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07797A-5FEB-6718-C39A-F6B4E979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92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58E19C2-FB24-2779-504B-0DCFA6C8F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A97B0E-80B9-48CD-FE21-729958ECB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0222DB-46BF-2AAD-ABD3-C7D83DD2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1EC8-B5B3-44FA-A383-87A6F0E316A6}" type="datetime1">
              <a:rPr lang="fr-FR" smtClean="0"/>
              <a:t>2025-06-18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B4D47E-0F9B-8EE7-FB9C-F4ED6EBA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28082-35A9-58C0-21BE-BCF2A70B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986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E87BFCC-C941-4D9D-1DD3-EB022FCA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AC9E6B-E4B8-98B1-A42F-79C454BA2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66022E-61B9-F4CB-11C5-9CE9A23BA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EEF06-E0FB-4993-A14C-A60512E14882}" type="datetime1">
              <a:rPr lang="fr-FR" smtClean="0"/>
              <a:t>2025-06-18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D0054D-12C7-F0AB-9D1D-42246FB06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BEDFED-BA4C-B4FC-E50E-9C76644D2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309FD-B81D-4BA1-9BA9-F491D3F758B8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83DFFBF-E686-C452-A040-29845CFECC7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101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8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6E589-2E83-0EBB-850E-8C7072E49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Présentation ETS - ENSIM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357745-0CEA-69C4-DEE9-FE2A2D5AE1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25.06.18 – Lucas BARBIER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734A42-9FA8-5787-386A-DB308563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27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94F7DD-E217-35DF-2118-B7669B73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368"/>
            <a:ext cx="10515600" cy="4222751"/>
          </a:xfrm>
        </p:spPr>
        <p:txBody>
          <a:bodyPr>
            <a:normAutofit/>
          </a:bodyPr>
          <a:lstStyle/>
          <a:p>
            <a:endParaRPr lang="fr-FR" sz="2000" b="1" dirty="0"/>
          </a:p>
          <a:p>
            <a:pPr marL="0" indent="0">
              <a:buNone/>
            </a:pPr>
            <a:r>
              <a:rPr lang="fr-FR" sz="2000" b="1" dirty="0"/>
              <a:t>Problématique</a:t>
            </a:r>
            <a:r>
              <a:rPr lang="fr-FR" sz="2000" dirty="0"/>
              <a:t> : </a:t>
            </a:r>
            <a:r>
              <a:rPr lang="fr-FR" sz="2000" b="1" dirty="0"/>
              <a:t>Etude et caractérisation de solutions acoustiques pour un rotor caréné d’hélicoptère sous excitations réalistes</a:t>
            </a:r>
            <a:endParaRPr lang="fr-FR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14A544-D46A-FB4C-F394-D3AC5F4C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2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020C4733-7BF7-8ADC-2A35-54C8E259B64F}"/>
              </a:ext>
            </a:extLst>
          </p:cNvPr>
          <p:cNvSpPr txBox="1">
            <a:spLocks/>
          </p:cNvSpPr>
          <p:nvPr/>
        </p:nvSpPr>
        <p:spPr>
          <a:xfrm>
            <a:off x="990600" y="1182914"/>
            <a:ext cx="10515600" cy="923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Rappels autour du projet</a:t>
            </a:r>
          </a:p>
        </p:txBody>
      </p:sp>
      <p:pic>
        <p:nvPicPr>
          <p:cNvPr id="2050" name="Picture 2" descr="Bell showcases Electrically Distributed Anti-Torque demonstrator">
            <a:extLst>
              <a:ext uri="{FF2B5EF4-FFF2-40B4-BE49-F238E27FC236}">
                <a16:creationId xmlns:a16="http://schemas.microsoft.com/office/drawing/2014/main" id="{C548B519-DF39-2782-CA87-256DACE67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120" y="3660891"/>
            <a:ext cx="2791879" cy="218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C712025-9CBE-E7D1-8A8D-4E3BC5A40011}"/>
              </a:ext>
            </a:extLst>
          </p:cNvPr>
          <p:cNvSpPr txBox="1"/>
          <p:nvPr/>
        </p:nvSpPr>
        <p:spPr>
          <a:xfrm>
            <a:off x="838200" y="3166340"/>
            <a:ext cx="742811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Objectifs : </a:t>
            </a:r>
          </a:p>
          <a:p>
            <a:pPr lvl="1"/>
            <a:r>
              <a:rPr lang="fr-FR" sz="2000" dirty="0"/>
              <a:t>Développer une méthodologie de dimensionnement et d’optimisation de solutions acoustiques pour une application industrielle</a:t>
            </a:r>
          </a:p>
          <a:p>
            <a:pPr lvl="1"/>
            <a:r>
              <a:rPr lang="fr-FR" sz="2000" dirty="0"/>
              <a:t>Modéliser une solution acoustiques multicouches </a:t>
            </a:r>
          </a:p>
          <a:p>
            <a:pPr lvl="1"/>
            <a:r>
              <a:rPr lang="fr-FR" sz="2000" dirty="0"/>
              <a:t>Intégrer la prise en compte d’effets de champ réalistes : forts niveaux, écoulement…</a:t>
            </a:r>
          </a:p>
          <a:p>
            <a:pPr lvl="1"/>
            <a:r>
              <a:rPr lang="fr-FR" sz="2000" dirty="0"/>
              <a:t>Utiliser les outils développés pour proposer un module acoustique intégrable dans un prototype de carénage, dans le cadre du projet REAR</a:t>
            </a:r>
          </a:p>
        </p:txBody>
      </p:sp>
    </p:spTree>
    <p:extLst>
      <p:ext uri="{BB962C8B-B14F-4D97-AF65-F5344CB8AC3E}">
        <p14:creationId xmlns:p14="http://schemas.microsoft.com/office/powerpoint/2010/main" val="3198080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2E3CF6-FDBD-7175-7CAE-C1A25841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Rétrospective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E485E0-C6E5-5ACB-A843-9E815697A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7354"/>
            <a:ext cx="10515600" cy="3095852"/>
          </a:xfrm>
        </p:spPr>
        <p:txBody>
          <a:bodyPr>
            <a:normAutofit/>
          </a:bodyPr>
          <a:lstStyle/>
          <a:p>
            <a:r>
              <a:rPr lang="fr-FR" sz="2000" dirty="0"/>
              <a:t>2022-2023 : Création d’une première version du code + application par Clément</a:t>
            </a:r>
          </a:p>
          <a:p>
            <a:r>
              <a:rPr lang="fr-FR" sz="2000" dirty="0"/>
              <a:t>Automne 2023 : Revue de Littérature + Cours</a:t>
            </a:r>
          </a:p>
          <a:p>
            <a:r>
              <a:rPr lang="fr-FR" sz="2000" dirty="0"/>
              <a:t>Hiver 2024 : Prise en main du code Matlab + validation de modèle + Intégration des modèles forts niveaux + Cours (échec)</a:t>
            </a:r>
          </a:p>
          <a:p>
            <a:r>
              <a:rPr lang="fr-FR" sz="2000" dirty="0"/>
              <a:t>Eté 2024 : Amélioration de l’application + Design des échantillons modulaires</a:t>
            </a:r>
          </a:p>
          <a:p>
            <a:r>
              <a:rPr lang="fr-FR" sz="2000" dirty="0"/>
              <a:t>Automne 2024 : Adaptation des bancs, 1ères optimisations + Cours (échec)</a:t>
            </a:r>
          </a:p>
          <a:p>
            <a:r>
              <a:rPr lang="fr-FR" sz="2000" dirty="0"/>
              <a:t>Hiver 2025 : Optimisation pour la première itération du processus de fabrication + Cours (réussite)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11FE17-D8D2-7A65-A309-DAFFFD96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464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7F45A-EAA1-B922-1938-42CCE68C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Méthodologie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4B8DAD-21EE-3263-C921-CCA146E46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90" y="2052945"/>
            <a:ext cx="11236619" cy="420467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622A0E9-E09D-9B7C-2718-AA9BDE1B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84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8AFE97-A5F1-9C14-91AC-8D262D9E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Solutions développées : MPPSBH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653D3F-F707-7D77-E8DB-97050F9FC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127" y="2063703"/>
            <a:ext cx="4580673" cy="188059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97FB259-8846-3831-10FE-968C83F49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742" y="2122914"/>
            <a:ext cx="3819132" cy="191194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ECDCE47-EEAD-B822-8869-CF21A4D208EB}"/>
              </a:ext>
            </a:extLst>
          </p:cNvPr>
          <p:cNvSpPr txBox="1"/>
          <p:nvPr/>
        </p:nvSpPr>
        <p:spPr>
          <a:xfrm>
            <a:off x="2299010" y="4062510"/>
            <a:ext cx="2092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Chen 2024 a)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580192-0BF5-50A1-FE48-08D1E90B056A}"/>
              </a:ext>
            </a:extLst>
          </p:cNvPr>
          <p:cNvSpPr txBox="1"/>
          <p:nvPr/>
        </p:nvSpPr>
        <p:spPr>
          <a:xfrm>
            <a:off x="7800720" y="3980287"/>
            <a:ext cx="252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Chen 2024 b)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32F9693-7120-5E43-77A7-84E843323046}"/>
              </a:ext>
            </a:extLst>
          </p:cNvPr>
          <p:cNvSpPr txBox="1"/>
          <p:nvPr/>
        </p:nvSpPr>
        <p:spPr>
          <a:xfrm>
            <a:off x="3693779" y="4879022"/>
            <a:ext cx="49732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Reprise d’une solution alliant trou-noir acoustique et plaques micro-perforées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Utilisation d’une formulation par matrices de transfert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Rayons de perforations (</a:t>
            </a:r>
            <a:r>
              <a:rPr lang="fr-FR" dirty="0" err="1"/>
              <a:t>sub</a:t>
            </a:r>
            <a:r>
              <a:rPr lang="fr-FR" dirty="0"/>
              <a:t>) millimétriques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F4C75CE0-6262-56F5-A19A-3B7347D0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5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D2409ED-247D-467B-E92A-896D85B17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416" y="3268868"/>
            <a:ext cx="1443594" cy="10917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9CB8BBE-F558-1FBF-3045-E32F18670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53" y="3742768"/>
            <a:ext cx="1709541" cy="14002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359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C6B78C-B42B-2C31-662C-5F4091F1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6F2FAE2-3FF3-E5A1-FAF2-7C39E8B8D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3" t="19025" r="1405" b="17682"/>
          <a:stretch>
            <a:fillRect/>
          </a:stretch>
        </p:blipFill>
        <p:spPr>
          <a:xfrm>
            <a:off x="990600" y="2529874"/>
            <a:ext cx="6143864" cy="2221515"/>
          </a:xfrm>
          <a:prstGeom prst="rect">
            <a:avLst/>
          </a:prstGeom>
        </p:spPr>
      </p:pic>
      <p:pic>
        <p:nvPicPr>
          <p:cNvPr id="8" name="Image 7" descr="Une image contenant Rectangle, intérieur, cadre photo, mur&#10;&#10;Le contenu généré par l’IA peut être incorrect.">
            <a:extLst>
              <a:ext uri="{FF2B5EF4-FFF2-40B4-BE49-F238E27FC236}">
                <a16:creationId xmlns:a16="http://schemas.microsoft.com/office/drawing/2014/main" id="{354492F4-00FF-2E74-FB96-9DBD19102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" t="19005" r="4146" b="24815"/>
          <a:stretch>
            <a:fillRect/>
          </a:stretch>
        </p:blipFill>
        <p:spPr>
          <a:xfrm rot="16200000">
            <a:off x="8106293" y="2755570"/>
            <a:ext cx="2481945" cy="3093135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E98BAEBE-26A3-A11B-40E6-B440D4FF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0514"/>
            <a:ext cx="10515600" cy="923697"/>
          </a:xfrm>
        </p:spPr>
        <p:txBody>
          <a:bodyPr>
            <a:normAutofit/>
          </a:bodyPr>
          <a:lstStyle/>
          <a:p>
            <a:r>
              <a:rPr lang="fr-FR" dirty="0"/>
              <a:t>Solutions développées : MPPSBH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BF889C6-B30A-4753-05AC-B1E6427DAEF4}"/>
              </a:ext>
            </a:extLst>
          </p:cNvPr>
          <p:cNvSpPr txBox="1"/>
          <p:nvPr/>
        </p:nvSpPr>
        <p:spPr>
          <a:xfrm>
            <a:off x="1575895" y="5215604"/>
            <a:ext cx="4973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Adaptation des modèles à une forme carrée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Fabrication d’échantillons modulaires pour mesures acoustiques par impression 3D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4BEBF80-C64C-03EA-F1C1-CF22E4C88589}"/>
              </a:ext>
            </a:extLst>
          </p:cNvPr>
          <p:cNvCxnSpPr>
            <a:cxnSpLocks/>
          </p:cNvCxnSpPr>
          <p:nvPr/>
        </p:nvCxnSpPr>
        <p:spPr>
          <a:xfrm flipV="1">
            <a:off x="7641051" y="5215604"/>
            <a:ext cx="511956" cy="855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434130E-0922-0990-131E-05B17BB494B2}"/>
              </a:ext>
            </a:extLst>
          </p:cNvPr>
          <p:cNvCxnSpPr>
            <a:cxnSpLocks/>
          </p:cNvCxnSpPr>
          <p:nvPr/>
        </p:nvCxnSpPr>
        <p:spPr>
          <a:xfrm>
            <a:off x="8385993" y="2713646"/>
            <a:ext cx="1689482" cy="7967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15EA2ACB-0039-7761-CEA3-D1D96A7B0179}"/>
              </a:ext>
            </a:extLst>
          </p:cNvPr>
          <p:cNvSpPr txBox="1"/>
          <p:nvPr/>
        </p:nvSpPr>
        <p:spPr>
          <a:xfrm>
            <a:off x="7555256" y="2173920"/>
            <a:ext cx="4265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Plaques supérieures et intermédiaires</a:t>
            </a:r>
          </a:p>
          <a:p>
            <a:r>
              <a:rPr lang="fr-FR" sz="1400" dirty="0"/>
              <a:t>Usinage : Pré-découpe laser + perceuse à colonne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D93FCCD-ABEE-CA02-25FE-B4FECFEF8A52}"/>
              </a:ext>
            </a:extLst>
          </p:cNvPr>
          <p:cNvSpPr txBox="1"/>
          <p:nvPr/>
        </p:nvSpPr>
        <p:spPr>
          <a:xfrm>
            <a:off x="6873777" y="6121105"/>
            <a:ext cx="1951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Anneau/ cavité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B5BB759-01E4-4D25-009D-12C417E8CDD3}"/>
              </a:ext>
            </a:extLst>
          </p:cNvPr>
          <p:cNvCxnSpPr>
            <a:cxnSpLocks/>
          </p:cNvCxnSpPr>
          <p:nvPr/>
        </p:nvCxnSpPr>
        <p:spPr>
          <a:xfrm flipH="1" flipV="1">
            <a:off x="10075475" y="5431495"/>
            <a:ext cx="237449" cy="3959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F68A4FFB-C44C-A9AE-73FE-44107AA9D47E}"/>
              </a:ext>
            </a:extLst>
          </p:cNvPr>
          <p:cNvSpPr txBox="1"/>
          <p:nvPr/>
        </p:nvSpPr>
        <p:spPr>
          <a:xfrm>
            <a:off x="9379131" y="5887156"/>
            <a:ext cx="2473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Joint en TPU (étanchéité)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98A15BD-C643-0DE3-53FC-59A208179C84}"/>
              </a:ext>
            </a:extLst>
          </p:cNvPr>
          <p:cNvCxnSpPr>
            <a:cxnSpLocks/>
          </p:cNvCxnSpPr>
          <p:nvPr/>
        </p:nvCxnSpPr>
        <p:spPr>
          <a:xfrm>
            <a:off x="8385993" y="2713646"/>
            <a:ext cx="224607" cy="7153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1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5DBC0-8890-0C78-D878-9DCD8EC0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Prise en compte des forts niveaux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A2D94A-D9FE-4F94-2E98-789BF83E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Prise en compte dans la correction des paramètres JCAL des plaques (Laly 2018)</a:t>
            </a:r>
          </a:p>
          <a:p>
            <a:r>
              <a:rPr lang="fr-FR" sz="2000" dirty="0"/>
              <a:t>Expression en fonction du niveau de pression incidente RMS</a:t>
            </a:r>
          </a:p>
          <a:p>
            <a:r>
              <a:rPr lang="fr-FR" sz="2000" dirty="0"/>
              <a:t>Prise en compte multi-plaques : procédure itérative, détermination de la pression à chaque plaque par inversion des matrices de transfert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F249CC-C63D-1922-34C2-502427811D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8" r="56905"/>
          <a:stretch>
            <a:fillRect/>
          </a:stretch>
        </p:blipFill>
        <p:spPr>
          <a:xfrm>
            <a:off x="1139372" y="3711008"/>
            <a:ext cx="4071257" cy="91202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F5593D0-BA7C-4436-37B2-CEE896E46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6" r="22143"/>
          <a:stretch>
            <a:fillRect/>
          </a:stretch>
        </p:blipFill>
        <p:spPr>
          <a:xfrm>
            <a:off x="1139372" y="4857644"/>
            <a:ext cx="7557119" cy="1084712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DA1B700-B6F6-F489-6B93-E5A8537A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26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9C7A6AE-36E0-8ACA-E3DE-AB0881078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570" y="3715660"/>
            <a:ext cx="3303370" cy="26465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45C62E8-C720-3546-5305-530B3A52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Prise en compte de l’incidence/ écoulement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3844A4-122F-50BF-A682-8D5A55B6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fr-FR" sz="1800" dirty="0"/>
              <a:t>Hypothèse de réaction localisée + propagation normale à la surface (pas de dépendance théorique à l’angle d’incidence)</a:t>
            </a:r>
          </a:p>
          <a:p>
            <a:r>
              <a:rPr lang="fr-FR" sz="1800" dirty="0"/>
              <a:t>Validation expérimentale en incidence rasante + comparaison avec la formulation théorique du TL </a:t>
            </a:r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r>
              <a:rPr lang="fr-FR" sz="1800" dirty="0"/>
              <a:t>Ajout d’un terme correctif (qualitatif) associé à la présence d’un écoulement </a:t>
            </a:r>
          </a:p>
          <a:p>
            <a:pPr marL="0" indent="0">
              <a:buNone/>
            </a:pPr>
            <a:r>
              <a:rPr lang="fr-FR" sz="1800" dirty="0"/>
              <a:t>à partir du nombre de Mach moyen de l’écoulement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7184B9-F708-A939-B525-02736E23F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202" y="3184183"/>
            <a:ext cx="5832248" cy="10629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623BF66-911D-A6A5-DF75-CC7572B7A1C8}"/>
                  </a:ext>
                </a:extLst>
              </p:cNvPr>
              <p:cNvSpPr txBox="1"/>
              <p:nvPr/>
            </p:nvSpPr>
            <p:spPr>
              <a:xfrm>
                <a:off x="2397550" y="3275475"/>
                <a:ext cx="1313949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623BF66-911D-A6A5-DF75-CC7572B7A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50" y="3275475"/>
                <a:ext cx="1313949" cy="8803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D4CAE04-6A5C-B1C0-FBD6-DB89A8EB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79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C8CBB-0136-EA69-8452-08A52FD5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Mesures acoustiques : Set-up (Mecanum)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DC97FD3-D354-8BCD-EEBA-8C55E20BC0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6122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580EA3-03C0-65DF-5ADB-9BBD63C0DF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837" r="21118" b="34472"/>
          <a:stretch>
            <a:fillRect/>
          </a:stretch>
        </p:blipFill>
        <p:spPr>
          <a:xfrm>
            <a:off x="354053" y="2785075"/>
            <a:ext cx="7212980" cy="176189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8B0C547-5123-78F1-0DD8-CF77C2613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53" y="2188911"/>
            <a:ext cx="3949390" cy="325793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322A1A8-BD3E-88D3-E58B-173F2976DD3B}"/>
              </a:ext>
            </a:extLst>
          </p:cNvPr>
          <p:cNvSpPr txBox="1"/>
          <p:nvPr/>
        </p:nvSpPr>
        <p:spPr>
          <a:xfrm>
            <a:off x="1407886" y="2329927"/>
            <a:ext cx="5486400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Incidence normale, fort niveau, 2 microphones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1228778-547D-9BCE-01C3-89F447081A16}"/>
              </a:ext>
            </a:extLst>
          </p:cNvPr>
          <p:cNvSpPr txBox="1"/>
          <p:nvPr/>
        </p:nvSpPr>
        <p:spPr>
          <a:xfrm>
            <a:off x="7468064" y="1910364"/>
            <a:ext cx="4624967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Incidence rasante, 3 microphones (2 cavités)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1DFEACA-C2B9-07F3-C807-B691281F0A26}"/>
              </a:ext>
            </a:extLst>
          </p:cNvPr>
          <p:cNvCxnSpPr>
            <a:cxnSpLocks/>
          </p:cNvCxnSpPr>
          <p:nvPr/>
        </p:nvCxnSpPr>
        <p:spPr>
          <a:xfrm flipV="1">
            <a:off x="1407886" y="3666021"/>
            <a:ext cx="235062" cy="13727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DB0CABD5-0A4F-9201-F8BC-51FB8B66A5E4}"/>
              </a:ext>
            </a:extLst>
          </p:cNvPr>
          <p:cNvSpPr txBox="1"/>
          <p:nvPr/>
        </p:nvSpPr>
        <p:spPr>
          <a:xfrm>
            <a:off x="116114" y="4910162"/>
            <a:ext cx="342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Terminaison anéchoïque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F00FEDA-9415-7BC3-44B1-3D3346D64F1C}"/>
              </a:ext>
            </a:extLst>
          </p:cNvPr>
          <p:cNvCxnSpPr>
            <a:cxnSpLocks/>
          </p:cNvCxnSpPr>
          <p:nvPr/>
        </p:nvCxnSpPr>
        <p:spPr>
          <a:xfrm flipH="1" flipV="1">
            <a:off x="4772193" y="3860613"/>
            <a:ext cx="511007" cy="1503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1D8F864-B2D2-6102-93F0-F696533D3790}"/>
              </a:ext>
            </a:extLst>
          </p:cNvPr>
          <p:cNvSpPr txBox="1"/>
          <p:nvPr/>
        </p:nvSpPr>
        <p:spPr>
          <a:xfrm>
            <a:off x="4386148" y="5372067"/>
            <a:ext cx="342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Adaptateur carré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2C9F21C-665B-09B5-06AA-C40E390376B9}"/>
              </a:ext>
            </a:extLst>
          </p:cNvPr>
          <p:cNvSpPr txBox="1"/>
          <p:nvPr/>
        </p:nvSpPr>
        <p:spPr>
          <a:xfrm>
            <a:off x="6674981" y="5436917"/>
            <a:ext cx="342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Porte-échantillon rasant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1A6827C9-3ACA-3626-90F8-98B6A697F4B0}"/>
              </a:ext>
            </a:extLst>
          </p:cNvPr>
          <p:cNvCxnSpPr>
            <a:cxnSpLocks/>
          </p:cNvCxnSpPr>
          <p:nvPr/>
        </p:nvCxnSpPr>
        <p:spPr>
          <a:xfrm flipH="1" flipV="1">
            <a:off x="9780548" y="4269413"/>
            <a:ext cx="1206190" cy="14719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F78D5A83-293A-644B-A90E-09164F5C3D69}"/>
              </a:ext>
            </a:extLst>
          </p:cNvPr>
          <p:cNvSpPr txBox="1"/>
          <p:nvPr/>
        </p:nvSpPr>
        <p:spPr>
          <a:xfrm>
            <a:off x="8963814" y="5736435"/>
            <a:ext cx="3425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Adaptateur incidence rasante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3F8A061-CC88-E2CA-62A6-F8BD1E52037D}"/>
              </a:ext>
            </a:extLst>
          </p:cNvPr>
          <p:cNvCxnSpPr>
            <a:cxnSpLocks/>
          </p:cNvCxnSpPr>
          <p:nvPr/>
        </p:nvCxnSpPr>
        <p:spPr>
          <a:xfrm flipV="1">
            <a:off x="8050340" y="4987177"/>
            <a:ext cx="1195260" cy="4596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90D6DEC6-F436-BC48-C371-453B65C6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80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8CA5AEE-275D-663B-587F-776934E9D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353" y="2638786"/>
            <a:ext cx="4099533" cy="30746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495FEB-5F67-7B70-024F-CD3F67C7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3" t="19025" r="1405" b="17682"/>
          <a:stretch>
            <a:fillRect/>
          </a:stretch>
        </p:blipFill>
        <p:spPr>
          <a:xfrm>
            <a:off x="525755" y="2419557"/>
            <a:ext cx="4500905" cy="162745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4DE5064-08A6-2446-6C34-0B9CC3BE5682}"/>
              </a:ext>
            </a:extLst>
          </p:cNvPr>
          <p:cNvSpPr txBox="1"/>
          <p:nvPr/>
        </p:nvSpPr>
        <p:spPr>
          <a:xfrm>
            <a:off x="525755" y="4439030"/>
            <a:ext cx="49732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Bonne prédictibilité du premier 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en évidence d’un effet fort niveau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Problèmes de fuite persistants sur les échantillons modulaires (même avec vaseline)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65293E-F280-72A0-9047-2001818A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2025" y="6342271"/>
            <a:ext cx="2743200" cy="365125"/>
          </a:xfrm>
        </p:spPr>
        <p:txBody>
          <a:bodyPr/>
          <a:lstStyle/>
          <a:p>
            <a:fld id="{7A3309FD-B81D-4BA1-9BA9-F491D3F758B8}" type="slidenum">
              <a:rPr lang="fr-FR" smtClean="0"/>
              <a:t>10</a:t>
            </a:fld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62ED92E-3C62-2737-8BEC-7BF2BA78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0514"/>
            <a:ext cx="10515600" cy="923697"/>
          </a:xfrm>
        </p:spPr>
        <p:txBody>
          <a:bodyPr>
            <a:normAutofit/>
          </a:bodyPr>
          <a:lstStyle/>
          <a:p>
            <a:r>
              <a:rPr lang="fr-FR" dirty="0"/>
              <a:t>Mesures acoustiques : Résultats (provisoires)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8A64AC4-2A67-3D05-111D-8B78388634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595"/>
          <a:stretch>
            <a:fillRect/>
          </a:stretch>
        </p:blipFill>
        <p:spPr>
          <a:xfrm>
            <a:off x="9339579" y="2638786"/>
            <a:ext cx="2590801" cy="31887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531C8FC-A092-ADBB-FC71-404A193C992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9690100" y="2642734"/>
            <a:ext cx="2501900" cy="2865622"/>
          </a:xfrm>
          <a:prstGeom prst="rect">
            <a:avLst/>
          </a:prstGeom>
        </p:spPr>
      </p:pic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7B72C69-29FB-AA7C-FEDE-54944F2A6B92}"/>
              </a:ext>
            </a:extLst>
          </p:cNvPr>
          <p:cNvCxnSpPr>
            <a:cxnSpLocks/>
          </p:cNvCxnSpPr>
          <p:nvPr/>
        </p:nvCxnSpPr>
        <p:spPr>
          <a:xfrm flipH="1">
            <a:off x="11031220" y="3562969"/>
            <a:ext cx="266700" cy="484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9C025E18-82D9-0776-CCD2-E5E1DBE1848F}"/>
              </a:ext>
            </a:extLst>
          </p:cNvPr>
          <p:cNvSpPr txBox="1"/>
          <p:nvPr/>
        </p:nvSpPr>
        <p:spPr>
          <a:xfrm>
            <a:off x="11221720" y="3332137"/>
            <a:ext cx="87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Sans vaseline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8B219B2B-93F5-0138-5925-189C692014B1}"/>
              </a:ext>
            </a:extLst>
          </p:cNvPr>
          <p:cNvCxnSpPr>
            <a:cxnSpLocks/>
          </p:cNvCxnSpPr>
          <p:nvPr/>
        </p:nvCxnSpPr>
        <p:spPr>
          <a:xfrm flipH="1" flipV="1">
            <a:off x="10558780" y="4622297"/>
            <a:ext cx="472440" cy="279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12EB9298-AF68-DEA7-B2A7-D186F214ABB8}"/>
              </a:ext>
            </a:extLst>
          </p:cNvPr>
          <p:cNvSpPr txBox="1"/>
          <p:nvPr/>
        </p:nvSpPr>
        <p:spPr>
          <a:xfrm>
            <a:off x="11042650" y="4812056"/>
            <a:ext cx="87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Avec vaseline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BDF3471-9B97-371F-3AF0-C0A1BBF88B2D}"/>
              </a:ext>
            </a:extLst>
          </p:cNvPr>
          <p:cNvSpPr txBox="1"/>
          <p:nvPr/>
        </p:nvSpPr>
        <p:spPr>
          <a:xfrm>
            <a:off x="10219690" y="2359661"/>
            <a:ext cx="11506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Modèle analytique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6FBDC1D-2FFB-DB22-6585-6C7692DE9FE0}"/>
              </a:ext>
            </a:extLst>
          </p:cNvPr>
          <p:cNvCxnSpPr>
            <a:cxnSpLocks/>
          </p:cNvCxnSpPr>
          <p:nvPr/>
        </p:nvCxnSpPr>
        <p:spPr>
          <a:xfrm flipH="1">
            <a:off x="10307320" y="2594695"/>
            <a:ext cx="251460" cy="25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478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84AAC-2024-337F-B070-673C755D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Projet REAR – Cahier des charges</a:t>
            </a:r>
          </a:p>
        </p:txBody>
      </p:sp>
      <p:pic>
        <p:nvPicPr>
          <p:cNvPr id="4" name="Image 3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D7C59878-E01F-0303-1774-636B33EB3F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40" y="1799805"/>
            <a:ext cx="5413743" cy="3113424"/>
          </a:xfrm>
          <a:prstGeom prst="rect">
            <a:avLst/>
          </a:prstGeom>
        </p:spPr>
      </p:pic>
      <p:pic>
        <p:nvPicPr>
          <p:cNvPr id="5" name="Image 4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9C48503D-E4E7-F5A8-BBCA-EC6E7D2BFE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99805"/>
            <a:ext cx="5663288" cy="3113423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DE4A3BC-52B4-33B2-952D-989045C8FFE8}"/>
              </a:ext>
            </a:extLst>
          </p:cNvPr>
          <p:cNvCxnSpPr/>
          <p:nvPr/>
        </p:nvCxnSpPr>
        <p:spPr>
          <a:xfrm flipH="1">
            <a:off x="9187365" y="2428178"/>
            <a:ext cx="508000" cy="381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6421610-EFA8-429E-9F37-C7B005D24755}"/>
              </a:ext>
            </a:extLst>
          </p:cNvPr>
          <p:cNvCxnSpPr/>
          <p:nvPr/>
        </p:nvCxnSpPr>
        <p:spPr>
          <a:xfrm>
            <a:off x="1153299" y="2053528"/>
            <a:ext cx="273050" cy="565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C0DD2BCC-9F03-0734-1E34-D891220C588F}"/>
              </a:ext>
            </a:extLst>
          </p:cNvPr>
          <p:cNvSpPr txBox="1"/>
          <p:nvPr/>
        </p:nvSpPr>
        <p:spPr>
          <a:xfrm>
            <a:off x="406846" y="5227321"/>
            <a:ext cx="107274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Cahier des charges temporaire : Réduction du bruit entre :</a:t>
            </a:r>
          </a:p>
          <a:p>
            <a:pPr marL="285750" indent="-285750">
              <a:buFontTx/>
              <a:buChar char="-"/>
            </a:pPr>
            <a:r>
              <a:rPr lang="fr-FR" dirty="0"/>
              <a:t>la 1</a:t>
            </a:r>
            <a:r>
              <a:rPr lang="fr-FR" baseline="30000" dirty="0"/>
              <a:t>ère</a:t>
            </a:r>
            <a:r>
              <a:rPr lang="fr-FR" dirty="0"/>
              <a:t> pic tonale associé au régime moteur ou le 1</a:t>
            </a:r>
            <a:r>
              <a:rPr lang="fr-FR" baseline="30000" dirty="0"/>
              <a:t>er</a:t>
            </a:r>
            <a:r>
              <a:rPr lang="fr-FR" dirty="0"/>
              <a:t> pic dépasse le bruit large bande (2500 RPM)</a:t>
            </a:r>
          </a:p>
          <a:p>
            <a:pPr marL="285750" indent="-285750">
              <a:buFontTx/>
              <a:buChar char="-"/>
            </a:pPr>
            <a:r>
              <a:rPr lang="fr-FR" dirty="0"/>
              <a:t>Le dernier pic tonal du régime moteur maximal (3500 RPM) pour lequel la décroissance harmonique est de moins de 20 dB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CE6F4BA-6463-C796-3915-C462694BA09C}"/>
              </a:ext>
            </a:extLst>
          </p:cNvPr>
          <p:cNvCxnSpPr/>
          <p:nvPr/>
        </p:nvCxnSpPr>
        <p:spPr>
          <a:xfrm flipV="1">
            <a:off x="1081669" y="1690688"/>
            <a:ext cx="0" cy="322254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3DF635C-612C-5D08-A9C3-CB9389C95477}"/>
              </a:ext>
            </a:extLst>
          </p:cNvPr>
          <p:cNvCxnSpPr/>
          <p:nvPr/>
        </p:nvCxnSpPr>
        <p:spPr>
          <a:xfrm flipV="1">
            <a:off x="9407913" y="1408191"/>
            <a:ext cx="0" cy="322254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69EB741-7BC4-078C-241A-EB9A61CE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2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A17EE5-00B1-FA0F-0302-BA935E70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Projet REAR – 1</a:t>
            </a:r>
            <a:r>
              <a:rPr lang="fr-FR" baseline="30000" dirty="0"/>
              <a:t>ère</a:t>
            </a:r>
            <a:r>
              <a:rPr lang="fr-FR" dirty="0"/>
              <a:t> itération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843AB6-BFAC-238C-527D-036C205A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53" y="2520890"/>
            <a:ext cx="6096226" cy="4011158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BD946C0-5BAB-CF93-8F17-7CA00F7A874E}"/>
              </a:ext>
            </a:extLst>
          </p:cNvPr>
          <p:cNvCxnSpPr>
            <a:cxnSpLocks/>
          </p:cNvCxnSpPr>
          <p:nvPr/>
        </p:nvCxnSpPr>
        <p:spPr>
          <a:xfrm>
            <a:off x="2231837" y="2771122"/>
            <a:ext cx="366984" cy="13920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8127A54-535D-3445-4BC6-818F904CEF13}"/>
              </a:ext>
            </a:extLst>
          </p:cNvPr>
          <p:cNvCxnSpPr>
            <a:cxnSpLocks/>
          </p:cNvCxnSpPr>
          <p:nvPr/>
        </p:nvCxnSpPr>
        <p:spPr>
          <a:xfrm flipH="1" flipV="1">
            <a:off x="4311805" y="4653817"/>
            <a:ext cx="1784195" cy="12507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36C7C643-2E30-3D05-64D3-84227F1663FC}"/>
              </a:ext>
            </a:extLst>
          </p:cNvPr>
          <p:cNvSpPr txBox="1"/>
          <p:nvPr/>
        </p:nvSpPr>
        <p:spPr>
          <a:xfrm>
            <a:off x="1362042" y="2336224"/>
            <a:ext cx="175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Module ETS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EA17F1-F6C2-8E04-5FA1-8EC31F057DBD}"/>
              </a:ext>
            </a:extLst>
          </p:cNvPr>
          <p:cNvSpPr txBox="1"/>
          <p:nvPr/>
        </p:nvSpPr>
        <p:spPr>
          <a:xfrm>
            <a:off x="6139543" y="5813441"/>
            <a:ext cx="175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Module Poly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3FA36A8-0931-6936-7A97-80FC0763FBA4}"/>
              </a:ext>
            </a:extLst>
          </p:cNvPr>
          <p:cNvSpPr txBox="1"/>
          <p:nvPr/>
        </p:nvSpPr>
        <p:spPr>
          <a:xfrm>
            <a:off x="6738273" y="2595466"/>
            <a:ext cx="5167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Proposition de l’ETS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1 module composé de 4 blocs/ solutions</a:t>
            </a:r>
          </a:p>
          <a:p>
            <a:pPr marL="285750" indent="-285750">
              <a:buFontTx/>
              <a:buChar char="-"/>
            </a:pPr>
            <a:r>
              <a:rPr lang="fr-FR" dirty="0"/>
              <a:t>Pour chaque bloc (indépendant) :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100 mm d’épaisseur (totale)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6 plaques + 6 cavités (épaisseurs constantes)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6 patterns de perforation (indépendants)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Rayon des perforations proche de 1mm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D509A04-F62E-49AC-3C16-9169EB613672}"/>
              </a:ext>
            </a:extLst>
          </p:cNvPr>
          <p:cNvSpPr txBox="1"/>
          <p:nvPr/>
        </p:nvSpPr>
        <p:spPr>
          <a:xfrm>
            <a:off x="3112784" y="1893455"/>
            <a:ext cx="4469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Résonateurs (4) « Helmholtz »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4051DF4-68A7-4C88-5038-D2EC6A7F4BEE}"/>
              </a:ext>
            </a:extLst>
          </p:cNvPr>
          <p:cNvCxnSpPr>
            <a:cxnSpLocks/>
          </p:cNvCxnSpPr>
          <p:nvPr/>
        </p:nvCxnSpPr>
        <p:spPr>
          <a:xfrm flipH="1">
            <a:off x="2783445" y="2336224"/>
            <a:ext cx="961241" cy="19604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22834C14-235D-1745-DBDE-82171738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591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419A41-F712-0382-64BF-D098EF5C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Projet REAR – Prévision module ETS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2A78200-51FA-FC82-C433-5C6EB3A86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6435"/>
            <a:ext cx="6072382" cy="45524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310726D-31FC-29A5-9104-0EEAFFC2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13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D69AC8-6CCE-D9BE-B219-6EB9F2F9EE6D}"/>
              </a:ext>
            </a:extLst>
          </p:cNvPr>
          <p:cNvSpPr txBox="1"/>
          <p:nvPr/>
        </p:nvSpPr>
        <p:spPr>
          <a:xfrm>
            <a:off x="6910582" y="3139618"/>
            <a:ext cx="4965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Perspectives d’amélioration des performances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Augmentation de l’épaisseur totale des solutions individuelles de 10 à 12 cm après re-design de la cartouche acoustique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Optimisation multi-objectifs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Réduction des rayons de perforations (contrainte industrielle)</a:t>
            </a:r>
          </a:p>
        </p:txBody>
      </p:sp>
    </p:spTree>
    <p:extLst>
      <p:ext uri="{BB962C8B-B14F-4D97-AF65-F5344CB8AC3E}">
        <p14:creationId xmlns:p14="http://schemas.microsoft.com/office/powerpoint/2010/main" val="378972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514656-56C7-773D-30AD-C5D01CB6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Projet REAR  - Adaptation des bancs de mesure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03D0E9-6928-0445-E5C5-95DEEF67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073" y="2041113"/>
            <a:ext cx="4995397" cy="4315237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ECF244F-F891-17AD-4D80-45A7552C1BB8}"/>
              </a:ext>
            </a:extLst>
          </p:cNvPr>
          <p:cNvCxnSpPr>
            <a:cxnSpLocks/>
          </p:cNvCxnSpPr>
          <p:nvPr/>
        </p:nvCxnSpPr>
        <p:spPr>
          <a:xfrm flipV="1">
            <a:off x="6812684" y="5268401"/>
            <a:ext cx="1531436" cy="6331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23FA4E49-7ABE-9D26-5462-C131235969BB}"/>
              </a:ext>
            </a:extLst>
          </p:cNvPr>
          <p:cNvSpPr txBox="1"/>
          <p:nvPr/>
        </p:nvSpPr>
        <p:spPr>
          <a:xfrm>
            <a:off x="5316389" y="5948546"/>
            <a:ext cx="3027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Prolongement en longueur du porte-échantillon rasant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384B40-E56E-C074-0A96-D8261102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14</a:t>
            </a:fld>
            <a:endParaRPr lang="fr-FR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DF1E331-E79E-AA38-CD91-EB369F4BC8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" name="Image 8" descr="Une image contenant texte, conteneur, carton, boîte&#10;&#10;Le contenu généré par l’IA peut être incorrect.">
            <a:extLst>
              <a:ext uri="{FF2B5EF4-FFF2-40B4-BE49-F238E27FC236}">
                <a16:creationId xmlns:a16="http://schemas.microsoft.com/office/drawing/2014/main" id="{FFAF81E0-47BF-EC07-D0BA-07D273076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8" t="22403" r="20000" b="12645"/>
          <a:stretch>
            <a:fillRect/>
          </a:stretch>
        </p:blipFill>
        <p:spPr>
          <a:xfrm>
            <a:off x="782530" y="2280191"/>
            <a:ext cx="4834499" cy="2317222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8B7ED74-1127-E28D-752F-3AA9251A8CE2}"/>
              </a:ext>
            </a:extLst>
          </p:cNvPr>
          <p:cNvCxnSpPr>
            <a:cxnSpLocks/>
          </p:cNvCxnSpPr>
          <p:nvPr/>
        </p:nvCxnSpPr>
        <p:spPr>
          <a:xfrm flipV="1">
            <a:off x="2235200" y="4114670"/>
            <a:ext cx="470120" cy="9654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8D15B24-E3FB-DBCE-59DE-80BE0D9C1AB2}"/>
              </a:ext>
            </a:extLst>
          </p:cNvPr>
          <p:cNvSpPr txBox="1"/>
          <p:nvPr/>
        </p:nvSpPr>
        <p:spPr>
          <a:xfrm>
            <a:off x="384008" y="5080310"/>
            <a:ext cx="3476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Solutions ETS à tester en incidence rasante et normale 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0D84CA2-4077-5CFB-E5BA-AF7EF8869E38}"/>
              </a:ext>
            </a:extLst>
          </p:cNvPr>
          <p:cNvCxnSpPr>
            <a:cxnSpLocks/>
          </p:cNvCxnSpPr>
          <p:nvPr/>
        </p:nvCxnSpPr>
        <p:spPr>
          <a:xfrm flipV="1">
            <a:off x="4673600" y="3715988"/>
            <a:ext cx="228777" cy="1364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5C2136B1-E343-3D76-85AF-0082E4A5D1EB}"/>
              </a:ext>
            </a:extLst>
          </p:cNvPr>
          <p:cNvSpPr txBox="1"/>
          <p:nvPr/>
        </p:nvSpPr>
        <p:spPr>
          <a:xfrm>
            <a:off x="4026473" y="5181499"/>
            <a:ext cx="347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Solution Poly</a:t>
            </a:r>
          </a:p>
        </p:txBody>
      </p:sp>
    </p:spTree>
    <p:extLst>
      <p:ext uri="{BB962C8B-B14F-4D97-AF65-F5344CB8AC3E}">
        <p14:creationId xmlns:p14="http://schemas.microsoft.com/office/powerpoint/2010/main" val="315152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B38ED0-F8E6-DEE9-BFE1-4FB32FEA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Planification pour la fin de la Maitrise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625899-5AE9-C65E-4217-C2260C816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3905"/>
            <a:ext cx="10515600" cy="4222751"/>
          </a:xfrm>
        </p:spPr>
        <p:txBody>
          <a:bodyPr>
            <a:normAutofit fontScale="92500" lnSpcReduction="10000"/>
          </a:bodyPr>
          <a:lstStyle/>
          <a:p>
            <a:r>
              <a:rPr lang="fr-FR" sz="2000" dirty="0"/>
              <a:t>Mi-juillet : </a:t>
            </a:r>
          </a:p>
          <a:p>
            <a:pPr lvl="1"/>
            <a:r>
              <a:rPr lang="fr-FR" sz="2000" dirty="0"/>
              <a:t>Fin de mon « stage » au marché pour la validation des requis de la CTI.</a:t>
            </a:r>
          </a:p>
          <a:p>
            <a:pPr marL="457200" lvl="1" indent="0">
              <a:buNone/>
            </a:pPr>
            <a:endParaRPr lang="fr-FR" sz="2000" dirty="0"/>
          </a:p>
          <a:p>
            <a:r>
              <a:rPr lang="fr-FR" sz="2000" dirty="0"/>
              <a:t>Juin - Juillet – Aout : </a:t>
            </a:r>
          </a:p>
          <a:p>
            <a:pPr lvl="1"/>
            <a:r>
              <a:rPr lang="fr-FR" sz="2000" dirty="0"/>
              <a:t>Développement d’une nouvelle cartouche « optimisée » avec l’équipe du projet REAR</a:t>
            </a:r>
          </a:p>
          <a:p>
            <a:pPr lvl="1"/>
            <a:r>
              <a:rPr lang="fr-FR" sz="2000" dirty="0"/>
              <a:t>Adaptation des bancs, mesures acoustiques en tube rasant et normale</a:t>
            </a:r>
          </a:p>
          <a:p>
            <a:pPr lvl="1"/>
            <a:r>
              <a:rPr lang="fr-FR" sz="2000" dirty="0"/>
              <a:t>Définition d’un cahier des charges réaliste (en collaboration avec Bell) </a:t>
            </a:r>
          </a:p>
          <a:p>
            <a:pPr marL="457200" lvl="1" indent="0">
              <a:buNone/>
            </a:pPr>
            <a:endParaRPr lang="fr-FR" sz="2000" dirty="0"/>
          </a:p>
          <a:p>
            <a:r>
              <a:rPr lang="fr-FR" sz="2000" dirty="0"/>
              <a:t>Aout – Septembre : </a:t>
            </a:r>
          </a:p>
          <a:p>
            <a:pPr lvl="1"/>
            <a:r>
              <a:rPr lang="fr-FR" sz="2000" dirty="0"/>
              <a:t>Rédaction du rapport de maitrise</a:t>
            </a:r>
          </a:p>
          <a:p>
            <a:pPr marL="457200" lvl="1" indent="0">
              <a:buNone/>
            </a:pPr>
            <a:endParaRPr lang="fr-FR" sz="2000" dirty="0"/>
          </a:p>
          <a:p>
            <a:r>
              <a:rPr lang="fr-FR" sz="2000" dirty="0"/>
              <a:t>Septembre – Décembre : </a:t>
            </a:r>
          </a:p>
          <a:p>
            <a:pPr lvl="1"/>
            <a:r>
              <a:rPr lang="fr-FR" sz="1900" dirty="0"/>
              <a:t>Restitution du projet + participation à la dernière phase du projet REAR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DF8438-7FB1-24E1-4442-C53C7821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784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8E5598-3305-51FE-0477-5960798B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Aspects Administratif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022675-F7A0-DC97-84F6-BB63F680E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6161"/>
            <a:ext cx="10515600" cy="4222751"/>
          </a:xfrm>
        </p:spPr>
        <p:txBody>
          <a:bodyPr>
            <a:normAutofit/>
          </a:bodyPr>
          <a:lstStyle/>
          <a:p>
            <a:r>
              <a:rPr lang="fr-FR" sz="2000" dirty="0"/>
              <a:t>Fin des études prévues en septembre 2025, </a:t>
            </a:r>
            <a:r>
              <a:rPr lang="fr-FR" sz="2000" b="1" dirty="0"/>
              <a:t>prolongement demandé jusqu’à janvier 2026</a:t>
            </a:r>
            <a:r>
              <a:rPr lang="fr-FR" sz="2000" dirty="0"/>
              <a:t> (2 sessions)</a:t>
            </a:r>
          </a:p>
          <a:p>
            <a:endParaRPr lang="fr-FR" sz="2000" dirty="0"/>
          </a:p>
          <a:p>
            <a:r>
              <a:rPr lang="fr-FR" sz="2000" dirty="0"/>
              <a:t>Échéance des documents d’immigrations à la fin novembre 2025, renouvèlement dès confirmation du prolongement d’étude</a:t>
            </a:r>
          </a:p>
          <a:p>
            <a:endParaRPr lang="fr-FR" sz="2000" dirty="0"/>
          </a:p>
          <a:p>
            <a:r>
              <a:rPr lang="fr-FR" sz="2000" b="1" dirty="0"/>
              <a:t>Remise du rapport fin septembre 2025</a:t>
            </a:r>
          </a:p>
          <a:p>
            <a:endParaRPr lang="fr-FR" sz="2000" dirty="0"/>
          </a:p>
          <a:p>
            <a:r>
              <a:rPr lang="fr-FR" sz="2000" b="1" dirty="0"/>
              <a:t>Soutenance décembre 2025</a:t>
            </a:r>
          </a:p>
          <a:p>
            <a:r>
              <a:rPr lang="fr-FR" sz="2000" b="1" dirty="0"/>
              <a:t>Janvier/ Février :  Retour en France + soutenance à l’ENSIM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949E4B-72D3-1753-B55D-D9B1918E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09FD-B81D-4BA1-9BA9-F491D3F758B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7247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787</Words>
  <Application>Microsoft Office PowerPoint</Application>
  <PresentationFormat>Grand écran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Thème Office</vt:lpstr>
      <vt:lpstr>Présentation ETS - ENSIM</vt:lpstr>
      <vt:lpstr>Présentation PowerPoint</vt:lpstr>
      <vt:lpstr>Rétrospective</vt:lpstr>
      <vt:lpstr>Méthodologie</vt:lpstr>
      <vt:lpstr>Solutions développées : MPPSBH</vt:lpstr>
      <vt:lpstr>Solutions développées : MPPSBH</vt:lpstr>
      <vt:lpstr>Prise en compte des forts niveaux</vt:lpstr>
      <vt:lpstr>Prise en compte de l’incidence/ écoulement</vt:lpstr>
      <vt:lpstr>Mesures acoustiques : Set-up (Mecanum)</vt:lpstr>
      <vt:lpstr>Mesures acoustiques : Résultats (provisoires)</vt:lpstr>
      <vt:lpstr>Projet REAR – Cahier des charges</vt:lpstr>
      <vt:lpstr>Projet REAR – 1ère itération</vt:lpstr>
      <vt:lpstr>Projet REAR – Prévision module ETS</vt:lpstr>
      <vt:lpstr>Projet REAR  - Adaptation des bancs de mesure</vt:lpstr>
      <vt:lpstr>Planification pour la fin de la Maitrise</vt:lpstr>
      <vt:lpstr>Aspects Administratif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Barbier, Lucas</dc:creator>
  <cp:lastModifiedBy>Barbier, Lucas</cp:lastModifiedBy>
  <cp:revision>5</cp:revision>
  <dcterms:created xsi:type="dcterms:W3CDTF">2025-06-10T13:17:00Z</dcterms:created>
  <dcterms:modified xsi:type="dcterms:W3CDTF">2025-06-18T11:19:43Z</dcterms:modified>
</cp:coreProperties>
</file>